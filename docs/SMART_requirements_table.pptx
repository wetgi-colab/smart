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78"/>
  </p:normalViewPr>
  <p:slideViewPr>
    <p:cSldViewPr snapToGrid="0">
      <p:cViewPr varScale="1">
        <p:scale>
          <a:sx n="117" d="100"/>
          <a:sy n="117" d="100"/>
        </p:scale>
        <p:origin x="9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E7A7B15-7694-4FA1-AF78-5AA69F3CE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8131A6C-4D83-42A5-B036-5C13A743E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C092DA-CE46-487B-843A-70DB0CDB6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4E7AEB0-CC91-457D-A865-C668BF12F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E8CBE2D-7CD8-4350-89C3-AF0C54484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CBA4B01-4E9E-4933-9B50-8A50672D8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9D5A682-1178-4C56-9BC8-17C0B26D5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D32D7FD2-B55D-4130-8FBF-27F554EF67D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B58B117-0D77-481A-826B-C0951512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580906E-0862-4A38-9155-39B1CF7AA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ECE72DE-086B-4308-9C06-D52D10ABA8BA}"/>
              </a:ext>
            </a:extLst>
          </p:cNvPr>
          <p:cNvSpPr>
            <a:spLocks noGrp="1"/>
          </p:cNvSpPr>
          <p:nvPr/>
        </p:nvSpPr>
        <p:spPr>
          <a:xfrm>
            <a:off x="457200" y="676275"/>
            <a:ext cx="87630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23B7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B79"/>
                </a:solidFill>
                <a:latin typeface="Arial"/>
                <a:ea typeface="Arial"/>
                <a:cs typeface="Arial"/>
              </a:rPr>
              <a:t>SMART: infrastructure requirements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40D0DC-B893-4145-ABBB-E4ADF332552C}"/>
              </a:ext>
            </a:extLst>
          </p:cNvPr>
          <p:cNvSpPr>
            <a:spLocks noGrp="1"/>
          </p:cNvSpPr>
          <p:nvPr/>
        </p:nvSpPr>
        <p:spPr>
          <a:xfrm>
            <a:off x="457200" y="1390650"/>
            <a:ext cx="88582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64A"/>
                </a:solidFill>
                <a:latin typeface="Arial"/>
                <a:ea typeface="Arial"/>
                <a:cs typeface="Arial"/>
              </a:rPr>
              <a:t>Annotates DNA variants for cancer research.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5320FE-CCF4-46E9-856A-8BD645F8AD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5837102"/>
              </p:ext>
            </p:extLst>
          </p:nvPr>
        </p:nvGraphicFramePr>
        <p:xfrm>
          <a:off x="457200" y="2258291"/>
          <a:ext cx="14325600" cy="5656987"/>
        </p:xfrm>
        <a:graphic>
          <a:graphicData uri="http://schemas.openxmlformats.org/drawingml/2006/table">
            <a:tbl>
              <a:tblPr/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0239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85725" marR="85725" marT="28575" marB="28575">
                    <a:solidFill>
                      <a:srgbClr val="123B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 / dependency</a:t>
                      </a:r>
                    </a:p>
                  </a:txBody>
                  <a:tcPr marL="85725" marR="85725" marT="28575" marB="28575">
                    <a:solidFill>
                      <a:srgbClr val="123B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Capacity</a:t>
                      </a:r>
                    </a:p>
                  </a:txBody>
                  <a:tcPr marL="85725" marR="85725" marT="28575" marB="28575">
                    <a:solidFill>
                      <a:srgbClr val="123B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72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Input data</a:t>
                      </a:r>
                    </a:p>
                  </a:txBody>
                  <a:tcPr marL="85725" marR="85725" marT="28575" marB="28575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500 cancer-panel VCFs (text lists of DNA variants).</a:t>
                      </a:r>
                    </a:p>
                    <a:p>
                      <a:r>
                        <a:rPr sz="1500" b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One file per sample, GRCh38 or optional GRCh37 liftover.</a:t>
                      </a:r>
                    </a:p>
                  </a:txBody>
                  <a:tcPr marL="85725" marR="85725" marT="28575" marB="28575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5364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</a:rPr>
                        <a:t>500 × mean VCF size</a:t>
                      </a:r>
                    </a:p>
                  </a:txBody>
                  <a:tcPr marL="85725" marR="85725" marT="28575" marB="28575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7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Software / libraries</a:t>
                      </a:r>
                    </a:p>
                  </a:txBody>
                  <a:tcPr marL="85725" marR="8572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Docker: VEP + plugins, GATK, </a:t>
                      </a:r>
                      <a:r>
                        <a:rPr sz="1500" b="0" dirty="0" err="1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OncoKB</a:t>
                      </a:r>
                      <a:r>
                        <a:rPr sz="1500" b="0" dirty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 client and table scripts.</a:t>
                      </a:r>
                    </a:p>
                    <a:p>
                      <a:r>
                        <a:rPr sz="1500" b="0" dirty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Full software-library manifest and versions</a:t>
                      </a:r>
                      <a:r>
                        <a:rPr lang="en-GB" sz="1500" b="0" dirty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 available</a:t>
                      </a:r>
                      <a:r>
                        <a:rPr sz="1500" b="0" dirty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marL="85725" marR="8572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5364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</a:rPr>
                        <a:t>Container / library storage</a:t>
                      </a:r>
                    </a:p>
                  </a:txBody>
                  <a:tcPr marL="85725" marR="85725" marT="28575" marB="285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7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Reference data</a:t>
                      </a:r>
                    </a:p>
                  </a:txBody>
                  <a:tcPr marL="85725" marR="85725" marT="28575" marB="28575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VEP cache, genome / chain, ClinVar, CIViC, COSMIC, Hotspots,</a:t>
                      </a:r>
                    </a:p>
                    <a:p>
                      <a:r>
                        <a:rPr sz="1500" b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SpliceAI, REVEL, gnomAD / LOEUF and transcript resources.</a:t>
                      </a:r>
                    </a:p>
                  </a:txBody>
                  <a:tcPr marL="85725" marR="85725" marT="28575" marB="28575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5364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</a:rPr>
                        <a:t>&gt;100 GB shared across jobs</a:t>
                      </a:r>
                    </a:p>
                  </a:txBody>
                  <a:tcPr marL="85725" marR="85725" marT="28575" marB="28575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7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CPU / RAM / GPU</a:t>
                      </a:r>
                    </a:p>
                  </a:txBody>
                  <a:tcPr marL="85725" marR="8572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Measured</a:t>
                      </a:r>
                      <a:r>
                        <a:rPr sz="1500" b="0" dirty="0">
                          <a:solidFill>
                            <a:srgbClr val="25364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</a:rPr>
                        <a:t>: 8 parallel jobs, peak RAM &lt;11 GB on a 15 GB host.</a:t>
                      </a:r>
                    </a:p>
                    <a:p>
                      <a:r>
                        <a:rPr sz="1500" b="0" dirty="0">
                          <a:solidFill>
                            <a:srgbClr val="25364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</a:rPr>
                        <a:t>No GPU requirement reported.</a:t>
                      </a:r>
                    </a:p>
                  </a:txBody>
                  <a:tcPr marL="85725" marR="8572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Plan: 8 </a:t>
                      </a:r>
                      <a:r>
                        <a:rPr sz="1500" b="0" dirty="0">
                          <a:solidFill>
                            <a:srgbClr val="25364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</a:rPr>
                        <a:t>CPU slots + 16 GB RAM</a:t>
                      </a:r>
                    </a:p>
                    <a:p>
                      <a:r>
                        <a:rPr sz="1500" b="0" dirty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GPU: none reported</a:t>
                      </a:r>
                    </a:p>
                  </a:txBody>
                  <a:tcPr marL="85725" marR="85725" marT="28575" marB="285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7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Parallelism / SLURM</a:t>
                      </a:r>
                    </a:p>
                  </a:txBody>
                  <a:tcPr marL="85725" marR="85725" marT="28575" marB="28575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-jobs controls simultaneous sample processing.</a:t>
                      </a:r>
                    </a:p>
                    <a:p>
                      <a:r>
                        <a:rPr sz="1500" b="0" dirty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SLURM optional locally; cluster settings / </a:t>
                      </a:r>
                      <a:r>
                        <a:rPr sz="1500" b="0" dirty="0">
                          <a:solidFill>
                            <a:srgbClr val="25364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</a:rPr>
                        <a:t>runtime: confirm</a:t>
                      </a:r>
                      <a:r>
                        <a:rPr lang="en-GB" sz="1500" b="0" dirty="0">
                          <a:solidFill>
                            <a:srgbClr val="25364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</a:rPr>
                        <a:t> – would this be the same as above?</a:t>
                      </a:r>
                      <a:endParaRPr sz="1500" b="0" dirty="0">
                        <a:solidFill>
                          <a:srgbClr val="25364A"/>
                        </a:solidFill>
                        <a:highlight>
                          <a:srgbClr val="FFFF00"/>
                        </a:highlight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5725" marR="85725" marT="28575" marB="28575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5364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</a:rPr>
                        <a:t>8 concurrent samples</a:t>
                      </a:r>
                    </a:p>
                    <a:p>
                      <a:r>
                        <a:rPr sz="1500" b="0" dirty="0">
                          <a:solidFill>
                            <a:srgbClr val="25364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</a:rPr>
                        <a:t>Cluster allocation: TBC</a:t>
                      </a:r>
                    </a:p>
                  </a:txBody>
                  <a:tcPr marL="85725" marR="85725" marT="28575" marB="28575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7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Access / configuration</a:t>
                      </a:r>
                    </a:p>
                  </a:txBody>
                  <a:tcPr marL="85725" marR="8572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OncoKB API access + token; resource downloads at setup.</a:t>
                      </a:r>
                    </a:p>
                    <a:p>
                      <a:r>
                        <a:rPr sz="1500" b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Config.yaml, optional transcript whitelist; stage licensed data.</a:t>
                      </a:r>
                    </a:p>
                  </a:txBody>
                  <a:tcPr marL="85725" marR="8572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Network access when required</a:t>
                      </a:r>
                    </a:p>
                    <a:p>
                      <a:r>
                        <a:rPr sz="1500" b="0" dirty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Credentials / </a:t>
                      </a:r>
                      <a:r>
                        <a:rPr sz="1500" b="0" dirty="0" err="1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licences</a:t>
                      </a:r>
                      <a:r>
                        <a:rPr lang="en-GB" sz="1500" b="0" dirty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 required</a:t>
                      </a:r>
                      <a:endParaRPr sz="1500" b="0" dirty="0">
                        <a:solidFill>
                          <a:srgbClr val="25364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5725" marR="85725" marT="28575" marB="285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7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Outputs / working files</a:t>
                      </a:r>
                    </a:p>
                  </a:txBody>
                  <a:tcPr marL="85725" marR="85725" marT="28575" marB="28575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MAF + 2 TSVs per sample, plus working files and run logs.</a:t>
                      </a:r>
                    </a:p>
                    <a:p>
                      <a:r>
                        <a:rPr lang="en-GB" sz="1500" b="0" dirty="0">
                          <a:solidFill>
                            <a:srgbClr val="25364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sz="1500" b="0" dirty="0" err="1">
                          <a:solidFill>
                            <a:srgbClr val="25364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</a:rPr>
                        <a:t>emporary</a:t>
                      </a:r>
                      <a:r>
                        <a:rPr sz="1500" b="0" dirty="0">
                          <a:solidFill>
                            <a:srgbClr val="25364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</a:rPr>
                        <a:t> space and file-count</a:t>
                      </a:r>
                      <a:r>
                        <a:rPr lang="en-GB" sz="1500" b="0" dirty="0">
                          <a:solidFill>
                            <a:srgbClr val="25364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</a:rPr>
                        <a:t>?</a:t>
                      </a:r>
                      <a:endParaRPr sz="1500" b="0" dirty="0">
                        <a:solidFill>
                          <a:srgbClr val="25364A"/>
                        </a:solidFill>
                        <a:highlight>
                          <a:srgbClr val="FFFF00"/>
                        </a:highlight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5725" marR="85725" marT="28575" marB="28575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5364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</a:rPr>
                        <a:t>~1,500 primary output files</a:t>
                      </a:r>
                    </a:p>
                    <a:p>
                      <a:r>
                        <a:rPr sz="1500" b="0" dirty="0">
                          <a:solidFill>
                            <a:srgbClr val="25364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</a:rPr>
                        <a:t>Output / temporary storage: TBC</a:t>
                      </a:r>
                    </a:p>
                  </a:txBody>
                  <a:tcPr marL="85725" marR="85725" marT="28575" marB="28575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297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Elapsed run time</a:t>
                      </a:r>
                    </a:p>
                  </a:txBody>
                  <a:tcPr marL="85725" marR="8572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Measured: </a:t>
                      </a:r>
                      <a:r>
                        <a:rPr sz="1500" b="0" dirty="0">
                          <a:solidFill>
                            <a:srgbClr val="25364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</a:rPr>
                        <a:t>100 VCFs / 254,662 variants in 178 minutes.</a:t>
                      </a:r>
                    </a:p>
                    <a:p>
                      <a:r>
                        <a:rPr sz="1500" b="0" dirty="0">
                          <a:solidFill>
                            <a:srgbClr val="25364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</a:rPr>
                        <a:t>Estimate assumes similar VCFs and the same parallelism.</a:t>
                      </a:r>
                    </a:p>
                  </a:txBody>
                  <a:tcPr marL="85725" marR="8572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5364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</a:rPr>
                        <a:t>500 panel VCFs: ~14.8 hours</a:t>
                      </a:r>
                    </a:p>
                    <a:p>
                      <a:r>
                        <a:rPr sz="1500" b="0" dirty="0">
                          <a:solidFill>
                            <a:srgbClr val="25364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</a:rPr>
                        <a:t>Not benchmarked for WGS</a:t>
                      </a:r>
                    </a:p>
                  </a:txBody>
                  <a:tcPr marL="85725" marR="85725" marT="28575" marB="285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2972">
                <a:tc>
                  <a:txBody>
                    <a:bodyPr/>
                    <a:lstStyle/>
                    <a:p>
                      <a:r>
                        <a:rPr lang="en-GB" sz="1500" b="1" dirty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Totals</a:t>
                      </a:r>
                      <a:endParaRPr sz="1500" b="1" dirty="0">
                        <a:solidFill>
                          <a:srgbClr val="25364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5725" marR="85725" marT="28575" marB="28575"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Storage = input + references + software + outputs + temporary.</a:t>
                      </a:r>
                    </a:p>
                    <a:p>
                      <a:r>
                        <a:rPr sz="1500" b="1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Share compatible references when combining pipelines.</a:t>
                      </a:r>
                    </a:p>
                  </a:txBody>
                  <a:tcPr marL="85725" marR="85725" marT="28575" marB="28575"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25364A"/>
                          </a:solidFill>
                          <a:latin typeface="Arial"/>
                          <a:ea typeface="Arial"/>
                          <a:cs typeface="Arial"/>
                        </a:rPr>
                        <a:t>&gt;</a:t>
                      </a:r>
                      <a:r>
                        <a:rPr sz="1500" b="1" dirty="0">
                          <a:solidFill>
                            <a:srgbClr val="25364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</a:rPr>
                        <a:t>100 GB + unmeasured storage</a:t>
                      </a:r>
                    </a:p>
                    <a:p>
                      <a:r>
                        <a:rPr sz="1500" b="1" dirty="0">
                          <a:solidFill>
                            <a:srgbClr val="25364A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</a:rPr>
                        <a:t>8 CPU slots / 16 GB RAM</a:t>
                      </a:r>
                    </a:p>
                  </a:txBody>
                  <a:tcPr marL="85725" marR="85725" marT="28575" marB="28575">
                    <a:solidFill>
                      <a:srgbClr val="DD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916AF1E5-5EEE-F30A-9AD8-02F87E92B8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219200"/>
            <a:ext cx="2438400" cy="16286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8CA1F8-2306-5B5A-CC76-3E4603F17204}"/>
              </a:ext>
            </a:extLst>
          </p:cNvPr>
          <p:cNvSpPr txBox="1"/>
          <p:nvPr/>
        </p:nvSpPr>
        <p:spPr>
          <a:xfrm>
            <a:off x="13182600" y="172588"/>
            <a:ext cx="1600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GB" b="1" i="0" dirty="0">
                <a:solidFill>
                  <a:schemeClr val="tx1"/>
                </a:solidFill>
                <a:effectLst/>
                <a:latin typeface="+mn-lt"/>
              </a:rPr>
              <a:t>SMART - </a:t>
            </a:r>
            <a:r>
              <a:rPr lang="en-GB" b="1" i="0" u="sng" dirty="0">
                <a:solidFill>
                  <a:schemeClr val="tx1"/>
                </a:solidFill>
                <a:effectLst/>
                <a:latin typeface="+mn-lt"/>
              </a:rPr>
              <a:t>S</a:t>
            </a:r>
            <a:r>
              <a:rPr lang="en-GB" b="1" i="0" dirty="0">
                <a:solidFill>
                  <a:schemeClr val="tx1"/>
                </a:solidFill>
                <a:effectLst/>
                <a:latin typeface="+mn-lt"/>
              </a:rPr>
              <a:t>omatic </a:t>
            </a:r>
            <a:r>
              <a:rPr lang="en-GB" b="1" i="0" u="sng" dirty="0">
                <a:solidFill>
                  <a:schemeClr val="tx1"/>
                </a:solidFill>
                <a:effectLst/>
                <a:latin typeface="+mn-lt"/>
              </a:rPr>
              <a:t>M</a:t>
            </a:r>
            <a:r>
              <a:rPr lang="en-GB" b="1" i="0" dirty="0">
                <a:solidFill>
                  <a:schemeClr val="tx1"/>
                </a:solidFill>
                <a:effectLst/>
                <a:latin typeface="+mn-lt"/>
              </a:rPr>
              <a:t>utation </a:t>
            </a:r>
            <a:r>
              <a:rPr lang="en-GB" b="1" i="0" u="sng" dirty="0">
                <a:solidFill>
                  <a:schemeClr val="tx1"/>
                </a:solidFill>
                <a:effectLst/>
                <a:latin typeface="+mn-lt"/>
              </a:rPr>
              <a:t>A</a:t>
            </a:r>
            <a:r>
              <a:rPr lang="en-GB" b="1" i="0" dirty="0">
                <a:solidFill>
                  <a:schemeClr val="tx1"/>
                </a:solidFill>
                <a:effectLst/>
                <a:latin typeface="+mn-lt"/>
              </a:rPr>
              <a:t>nnotation &amp; </a:t>
            </a:r>
            <a:r>
              <a:rPr lang="en-GB" b="1" i="0" u="sng" dirty="0">
                <a:solidFill>
                  <a:schemeClr val="tx1"/>
                </a:solidFill>
                <a:effectLst/>
                <a:latin typeface="+mn-lt"/>
              </a:rPr>
              <a:t>R</a:t>
            </a:r>
            <a:r>
              <a:rPr lang="en-GB" b="1" i="0" dirty="0">
                <a:solidFill>
                  <a:schemeClr val="tx1"/>
                </a:solidFill>
                <a:effectLst/>
                <a:latin typeface="+mn-lt"/>
              </a:rPr>
              <a:t>eporting </a:t>
            </a:r>
            <a:r>
              <a:rPr lang="en-GB" b="1" i="0" u="sng" dirty="0">
                <a:solidFill>
                  <a:schemeClr val="tx1"/>
                </a:solidFill>
                <a:effectLst/>
                <a:latin typeface="+mn-lt"/>
              </a:rPr>
              <a:t>T</a:t>
            </a:r>
            <a:r>
              <a:rPr lang="en-GB" b="1" i="0" dirty="0">
                <a:solidFill>
                  <a:schemeClr val="tx1"/>
                </a:solidFill>
                <a:effectLst/>
                <a:latin typeface="+mn-lt"/>
              </a:rPr>
              <a:t>ool</a:t>
            </a:r>
            <a:endParaRPr lang="en-GB" b="1" i="0" dirty="0">
              <a:solidFill>
                <a:srgbClr val="1F2328"/>
              </a:solidFill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9077489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</Words>
  <Application>Microsoft Macintosh PowerPoint</Application>
  <DocSecurity>0</DocSecurity>
  <PresentationFormat>Custom</PresentationFormat>
  <Paragraphs>48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Mona Sans VF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Ian Reddin</cp:lastModifiedBy>
  <cp:revision>1</cp:revision>
  <dcterms:created xsi:type="dcterms:W3CDTF">2026-10-09T12:50:08Z</dcterms:created>
  <dcterms:modified xsi:type="dcterms:W3CDTF">2026-10-09T14:51:23Z</dcterms:modified>
</cp:coreProperties>
</file>